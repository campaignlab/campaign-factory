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33889a54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33889a54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33889a543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933889a543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33889a543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933889a543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33889a543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933889a543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33889a54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33889a54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33889a54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33889a54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33889a543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33889a543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33889a543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33889a543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33889a543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33889a54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33889a543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933889a543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33889a543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933889a54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33889a543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33889a543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33889a543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33889a543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33889a543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33889a543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33889a543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933889a543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33889a5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933889a5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33889a54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33889a54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33889a54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933889a54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33889a54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933889a54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33889a543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933889a543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33889a543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933889a543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33889a543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933889a543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33889a543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933889a543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33889a543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933889a543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933889a543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933889a543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933889a543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933889a543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933889a543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933889a543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933889a543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933889a543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33889a543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933889a543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933889a543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933889a543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hyperlink" Target="https://docs.google.com/spreadsheets/d/1y0PXgAtHEuF605cqO18vNPCfHR7Q6FD74eDj4xqeg0Q/edit#gid=0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hyperlink" Target="https://docs.google.com/forms/d/e/1FAIpQLSfmfOOLRkV2TcclG0yw5SGQSzMLPWl89NHg4uLU9ojqWbkoLQ/viewform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councilgateway.poteris.co.uk/" TargetMode="External"/><Relationship Id="rId4" Type="http://schemas.openxmlformats.org/officeDocument/2006/relationships/hyperlink" Target="https://democracyclub.org.uk/data_apis/data/" TargetMode="External"/><Relationship Id="rId11" Type="http://schemas.openxmlformats.org/officeDocument/2006/relationships/hyperlink" Target="https://actionnetwork.org/" TargetMode="External"/><Relationship Id="rId10" Type="http://schemas.openxmlformats.org/officeDocument/2006/relationships/hyperlink" Target="https://forwardaction.uk/toolkit/whatsapp-share-link-generator/" TargetMode="External"/><Relationship Id="rId12" Type="http://schemas.openxmlformats.org/officeDocument/2006/relationships/image" Target="../media/image7.png"/><Relationship Id="rId9" Type="http://schemas.openxmlformats.org/officeDocument/2006/relationships/hyperlink" Target="https://www.repcoach.org.uk/about" TargetMode="External"/><Relationship Id="rId5" Type="http://schemas.openxmlformats.org/officeDocument/2006/relationships/hyperlink" Target="https://www.theyworkforyou.com/" TargetMode="External"/><Relationship Id="rId6" Type="http://schemas.openxmlformats.org/officeDocument/2006/relationships/hyperlink" Target="https://localcommunitygroups.uk/" TargetMode="External"/><Relationship Id="rId7" Type="http://schemas.openxmlformats.org/officeDocument/2006/relationships/hyperlink" Target="https://campaign-lab-constituency-explorer.c6digital.dev/" TargetMode="External"/><Relationship Id="rId8" Type="http://schemas.openxmlformats.org/officeDocument/2006/relationships/hyperlink" Target="https://www.asylumchanges.uk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bit.ly/mappol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commonslibrary.org/power-mapping/" TargetMode="External"/><Relationship Id="rId4" Type="http://schemas.openxmlformats.org/officeDocument/2006/relationships/hyperlink" Target="https://media.nesta.org.uk/documents/Theory_of_change_worksheet.pdf" TargetMode="External"/><Relationship Id="rId5" Type="http://schemas.openxmlformats.org/officeDocument/2006/relationships/hyperlink" Target="https://en.wikipedia.org/wiki/SMART_criteria" TargetMode="External"/><Relationship Id="rId6" Type="http://schemas.openxmlformats.org/officeDocument/2006/relationships/hyperlink" Target="https://commonslibrary.org/campaign-strategy-start-here/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rethinkeconomics.org/group-guidelines/power-mapping/" TargetMode="External"/><Relationship Id="rId4" Type="http://schemas.openxmlformats.org/officeDocument/2006/relationships/hyperlink" Target="https://commonslibrary.org/pillars-of-power/" TargetMode="External"/><Relationship Id="rId5" Type="http://schemas.openxmlformats.org/officeDocument/2006/relationships/hyperlink" Target="https://commonslibrary.org/topic/tactics/" TargetMode="External"/><Relationship Id="rId6" Type="http://schemas.openxmlformats.org/officeDocument/2006/relationships/hyperlink" Target="https://activisthandbook.org/tactics" TargetMode="External"/><Relationship Id="rId7" Type="http://schemas.openxmlformats.org/officeDocument/2006/relationships/hyperlink" Target="https://activisthandbook.org/strategy/stakeholders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1" Type="http://schemas.openxmlformats.org/officeDocument/2006/relationships/hyperlink" Target="https://membershipguide.org/handbook/getting-started-with-membership/discovering-our-value-proposition" TargetMode="External"/><Relationship Id="rId10" Type="http://schemas.openxmlformats.org/officeDocument/2006/relationships/hyperlink" Target="https://activisthandbook.org/organising/community-building" TargetMode="External"/><Relationship Id="rId13" Type="http://schemas.openxmlformats.org/officeDocument/2006/relationships/hyperlink" Target="https://growingthegrassroots.civicpower.org.uk/chapters/lessons-on-organising-and-movement-building" TargetMode="External"/><Relationship Id="rId12" Type="http://schemas.openxmlformats.org/officeDocument/2006/relationships/hyperlink" Target="https://docs.google.com/document/d/1cLDMZ9qaCmYTl0XpkWYQlrEzhdM5dL4P1CsKToQNnMo/edit?tab=t.0#heading=h.1hpcommyumhq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commonslibrary.org/how-to-do-relational-organizing-video-tip-sheet-and-work-sheet/" TargetMode="External"/><Relationship Id="rId4" Type="http://schemas.openxmlformats.org/officeDocument/2006/relationships/hyperlink" Target="https://commonslibrary.org/organizing-people-power-and-change-the-one-on-one-meeting/" TargetMode="External"/><Relationship Id="rId9" Type="http://schemas.openxmlformats.org/officeDocument/2006/relationships/hyperlink" Target="https://commonslibrary.org/how-to-guide-distributed-organizing-2/" TargetMode="External"/><Relationship Id="rId5" Type="http://schemas.openxmlformats.org/officeDocument/2006/relationships/hyperlink" Target="https://docs.google.com/document/d/1l0n2M0nNDo6_naA3ZCVJWBwHcue0ZfCm/edit?rtpof=true&amp;tab=t.0" TargetMode="External"/><Relationship Id="rId6" Type="http://schemas.openxmlformats.org/officeDocument/2006/relationships/hyperlink" Target="https://actionnetwork.org/forms/download-the-ladder-of-engagement-worksheet?nowrapper=true&amp;referrer=&amp;source=direct_link" TargetMode="External"/><Relationship Id="rId7" Type="http://schemas.openxmlformats.org/officeDocument/2006/relationships/hyperlink" Target="https://www.local.gov.uk/publications/12-components-effective-coalitions" TargetMode="External"/><Relationship Id="rId8" Type="http://schemas.openxmlformats.org/officeDocument/2006/relationships/hyperlink" Target="https://forwardaction.uk/2025/01/digital-mobilisation-predictions-for-2025-movement-innovation-and-impact/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Technology Shapes Campaign Strategy and Tactics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Agenda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7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12:00–12:15 Welcome, framing &amp; session model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12:15–12:45 Worked example: Honour the Offer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12:45–13:05 Groups form &amp; campaign choice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13:05–13:50 Sense-making: goals, power &amp; decision-makers (incl. Goal &amp; decision check)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13:50–14:00 Break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14:00–14:55 Tactics &amp; pressure (incl. Power &amp; pressure check)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14:55–15:25 Organising people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15:25–15:55 Completing plans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15:55–16:25 Group share-back &amp; critique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16:25–16:45 Synthesis &amp; reflection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16:45–17:00 Close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Sense-making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Sense-making is the work of understanding the situation you are in before you act. It’s about turning a messy political problem into something you can make decisions about.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In campaigning, sense-making means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Clarifying what decision you are trying to change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Identifying who actually holds power over that decision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Understanding how decisions are made in practice, not just on paper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Spotting risks, constraints, and moments of opportunity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How </a:t>
            </a:r>
            <a:r>
              <a:rPr lang="en-GB"/>
              <a:t>technology might help campaigns: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research institutions and decision-makers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map relationships and influence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analyse data, patterns, and precedents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Tactics &amp; pressure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Tactics and pressure are about changing the incentives of decision-makers so that maintaining the status quo becomes more costly than changing course.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In campaigning, sense-making means</a:t>
            </a:r>
            <a:endParaRPr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Choosing actions that create real consequences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Applying pressure where it actually lands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Sequencing actions so pressure builds over time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Matching tactics to the risks decision-makers care about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How technology might help campaigns:</a:t>
            </a:r>
            <a:endParaRPr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amplify 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coordinate actions quickly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package and present evidence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scale pressure through new channels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Organising people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do you get people to do something to enact your tactics to apply pressure.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In campaigning, sense-making means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Recruiting people into action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Building relationships and trust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Creating structures that let many people act together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How technology might help campaigns: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reduce friction in coordination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make participation easier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keep people connected over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Track metrics and progress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#HonourtheOffer</a:t>
            </a:r>
            <a:endParaRPr/>
          </a:p>
        </p:txBody>
      </p:sp>
      <p:pic>
        <p:nvPicPr>
          <p:cNvPr id="84" name="Google Shape;8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80458"/>
            <a:ext cx="9143999" cy="1782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Sense-Making</a:t>
            </a:r>
            <a:endParaRPr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Others handling national pressure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Pick scope - Oxford University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They have enough money to reverse this decision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They will be more sensitive to disadvantages and unfairness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Decentralised decision making - at each college means easier to target, if one falls they all will.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Oxford Living Wage -&gt;Go after the alumni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/>
              <a:t>No Tech Needed…. 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2. Tactics and Pressure</a:t>
            </a:r>
            <a:endParaRPr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Go after the alumni -&gt; so use personal networks </a:t>
            </a:r>
            <a:r>
              <a:rPr b="1" lang="en-GB"/>
              <a:t>social media is a gift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Public pressure as sensitive to not helping poor kids -&gt; so </a:t>
            </a:r>
            <a:r>
              <a:rPr b="1" lang="en-GB"/>
              <a:t>Twitter hashtag</a:t>
            </a:r>
            <a:r>
              <a:rPr lang="en-GB"/>
              <a:t> and news hook strong retweet game as media on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Pit them against each other publicly - college system -&gt; so create </a:t>
            </a:r>
            <a:r>
              <a:rPr lang="en-GB"/>
              <a:t>league</a:t>
            </a:r>
            <a:r>
              <a:rPr lang="en-GB"/>
              <a:t> table </a:t>
            </a:r>
            <a:r>
              <a:rPr b="1" lang="en-GB"/>
              <a:t>Google sheets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302" y="1481499"/>
            <a:ext cx="7703676" cy="254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77557"/>
            <a:ext cx="9143999" cy="338838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2"/>
          <p:cNvSpPr txBox="1"/>
          <p:nvPr/>
        </p:nvSpPr>
        <p:spPr>
          <a:xfrm>
            <a:off x="50825" y="4320125"/>
            <a:ext cx="868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Where are the colleges up to?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25" y="-5"/>
            <a:ext cx="9144001" cy="28996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5051" y="2899600"/>
            <a:ext cx="5932501" cy="237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 Organising People</a:t>
            </a:r>
            <a:endParaRPr/>
          </a:p>
        </p:txBody>
      </p:sp>
      <p:sp>
        <p:nvSpPr>
          <p:cNvPr id="119" name="Google Shape;11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Needs to spread fast and be easy to do -&gt; </a:t>
            </a:r>
            <a:r>
              <a:rPr b="1" lang="en-GB"/>
              <a:t>google form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Public recognition for signing -&gt; </a:t>
            </a:r>
            <a:r>
              <a:rPr b="1" lang="en-GB"/>
              <a:t>Open letter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Get alumni -&gt; </a:t>
            </a:r>
            <a:r>
              <a:rPr lang="en-GB"/>
              <a:t>so Network effects so use </a:t>
            </a:r>
            <a:r>
              <a:rPr b="1" lang="en-GB"/>
              <a:t>whatsapp/ Facebook groups and one to one messages</a:t>
            </a:r>
            <a:r>
              <a:rPr lang="en-GB"/>
              <a:t> to seed, hit threshold to explode it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Replicable by other people -&gt; </a:t>
            </a:r>
            <a:r>
              <a:rPr b="1" lang="en-GB"/>
              <a:t>copyable format</a:t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Networks</a:t>
            </a:r>
            <a:endParaRPr/>
          </a:p>
        </p:txBody>
      </p:sp>
      <p:pic>
        <p:nvPicPr>
          <p:cNvPr id="125" name="Google Shape;12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325" y="1152475"/>
            <a:ext cx="3799450" cy="379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4800" y="1193750"/>
            <a:ext cx="3668500" cy="366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526" y="280975"/>
            <a:ext cx="3894324" cy="428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8133" y="-71150"/>
            <a:ext cx="429328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6"/>
          <p:cNvSpPr txBox="1"/>
          <p:nvPr/>
        </p:nvSpPr>
        <p:spPr>
          <a:xfrm>
            <a:off x="220050" y="4549150"/>
            <a:ext cx="4036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u="sng">
                <a:solidFill>
                  <a:schemeClr val="hlink"/>
                </a:solidFill>
                <a:hlinkClick r:id="rId5"/>
              </a:rPr>
              <a:t>https://docs.google.com/forms/d/e/1FAIpQLSfmfOOLRkV2TcclG0yw5SGQSzMLPWl89NHg4uLU9ojqWbkoLQ/viewform</a:t>
            </a:r>
            <a:r>
              <a:rPr lang="en-GB" sz="1100"/>
              <a:t> </a:t>
            </a:r>
            <a:endParaRPr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000" y="1161075"/>
            <a:ext cx="8001850" cy="297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Tech Helps at each stage? (Examples)</a:t>
            </a:r>
            <a:endParaRPr/>
          </a:p>
        </p:txBody>
      </p:sp>
      <p:sp>
        <p:nvSpPr>
          <p:cNvPr id="146" name="Google Shape;14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Sense-making</a:t>
            </a:r>
            <a:endParaRPr/>
          </a:p>
          <a:p>
            <a:pPr indent="-30003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 u="sng">
                <a:solidFill>
                  <a:schemeClr val="hlink"/>
                </a:solidFill>
                <a:hlinkClick r:id="rId3"/>
              </a:rPr>
              <a:t>Council Minutes Tracker</a:t>
            </a:r>
            <a:endParaRPr/>
          </a:p>
          <a:p>
            <a:pPr indent="-3000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u="sng">
                <a:solidFill>
                  <a:schemeClr val="hlink"/>
                </a:solidFill>
                <a:hlinkClick r:id="rId4"/>
              </a:rPr>
              <a:t>Democracy Club </a:t>
            </a:r>
            <a:r>
              <a:rPr lang="en-GB"/>
              <a:t>data with councillor contact details</a:t>
            </a:r>
            <a:endParaRPr/>
          </a:p>
          <a:p>
            <a:pPr indent="-3000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My Society/ </a:t>
            </a:r>
            <a:r>
              <a:rPr lang="en-GB" u="sng">
                <a:solidFill>
                  <a:schemeClr val="hlink"/>
                </a:solidFill>
                <a:hlinkClick r:id="rId5"/>
              </a:rPr>
              <a:t>Theyworkforyou</a:t>
            </a:r>
            <a:endParaRPr/>
          </a:p>
          <a:p>
            <a:pPr indent="-3000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Tactics and Pressure</a:t>
            </a:r>
            <a:endParaRPr/>
          </a:p>
          <a:p>
            <a:pPr indent="-30003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 u="sng">
                <a:solidFill>
                  <a:schemeClr val="hlink"/>
                </a:solidFill>
                <a:hlinkClick r:id="rId6"/>
              </a:rPr>
              <a:t>Directory of local facebook groups</a:t>
            </a:r>
            <a:endParaRPr/>
          </a:p>
          <a:p>
            <a:pPr indent="-3000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u="sng">
                <a:solidFill>
                  <a:schemeClr val="hlink"/>
                </a:solidFill>
                <a:hlinkClick r:id="rId7"/>
              </a:rPr>
              <a:t>Constituency Explorer</a:t>
            </a:r>
            <a:endParaRPr/>
          </a:p>
          <a:p>
            <a:pPr indent="-3000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u="sng">
                <a:solidFill>
                  <a:schemeClr val="hlink"/>
                </a:solidFill>
                <a:hlinkClick r:id="rId8"/>
              </a:rPr>
              <a:t>Asylum Changes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Organising People</a:t>
            </a:r>
            <a:endParaRPr/>
          </a:p>
          <a:p>
            <a:pPr indent="-30003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 u="sng">
                <a:solidFill>
                  <a:schemeClr val="hlink"/>
                </a:solidFill>
                <a:hlinkClick r:id="rId9"/>
              </a:rPr>
              <a:t>Rep coach</a:t>
            </a:r>
            <a:endParaRPr/>
          </a:p>
          <a:p>
            <a:pPr indent="-3000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Chathackers</a:t>
            </a:r>
            <a:endParaRPr/>
          </a:p>
          <a:p>
            <a:pPr indent="-3000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u="sng">
                <a:solidFill>
                  <a:schemeClr val="hlink"/>
                </a:solidFill>
                <a:hlinkClick r:id="rId10"/>
              </a:rPr>
              <a:t>Whatsapp sharer</a:t>
            </a:r>
            <a:endParaRPr/>
          </a:p>
          <a:p>
            <a:pPr indent="-3000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u="sng">
                <a:solidFill>
                  <a:schemeClr val="hlink"/>
                </a:solidFill>
                <a:hlinkClick r:id="rId11"/>
              </a:rPr>
              <a:t>Action Network</a:t>
            </a:r>
            <a:endParaRPr/>
          </a:p>
        </p:txBody>
      </p:sp>
      <p:pic>
        <p:nvPicPr>
          <p:cNvPr id="147" name="Google Shape;147;p2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572000" y="2327019"/>
            <a:ext cx="4373225" cy="106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Stop the Data Centre on Brick Lane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</a:rPr>
              <a:t> A proposal has been made to redevelop part of the historic Truman Brewery site into a large data centre that many local residents oppose.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6350" y="2028813"/>
            <a:ext cx="6743700" cy="311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Stop Faulty </a:t>
            </a:r>
            <a:r>
              <a:rPr lang="en-GB"/>
              <a:t>Lime Bikes </a:t>
            </a:r>
            <a:endParaRPr/>
          </a:p>
        </p:txBody>
      </p:sp>
      <p:sp>
        <p:nvSpPr>
          <p:cNvPr id="160" name="Google Shape;16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Dockless Lime e-bikes are widely used in London, but they are causing serious injuries linked to brake failures.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61" name="Google Shape;16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1150" y="2352435"/>
            <a:ext cx="9144000" cy="2613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Stop Use of Automated Decision-Making in UK Visa Cases</a:t>
            </a:r>
            <a:endParaRPr/>
          </a:p>
        </p:txBody>
      </p:sp>
      <p:sp>
        <p:nvSpPr>
          <p:cNvPr id="167" name="Google Shape;16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Automated decision tools are increasingly used by the Home Office in visa decisions, raising fairness concerns.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68" name="Google Shape;16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0825" y="2020940"/>
            <a:ext cx="9143998" cy="1935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Stop UK far right groups from </a:t>
            </a:r>
            <a:r>
              <a:rPr lang="en-GB"/>
              <a:t>receiving</a:t>
            </a:r>
            <a:r>
              <a:rPr lang="en-GB"/>
              <a:t> US funding</a:t>
            </a:r>
            <a:endParaRPr/>
          </a:p>
        </p:txBody>
      </p:sp>
      <p:sp>
        <p:nvSpPr>
          <p:cNvPr id="174" name="Google Shape;174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Concerns have been raised about UK far-right groups receiving funding or support linked to Trump-aligned networks.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75" name="Google Shape;17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64248"/>
            <a:ext cx="9144000" cy="1936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Open up parliament’s digital services</a:t>
            </a:r>
            <a:endParaRPr/>
          </a:p>
        </p:txBody>
      </p:sp>
      <p:sp>
        <p:nvSpPr>
          <p:cNvPr id="181" name="Google Shape;181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Create an approval process for new tech tools for parliamentarians to fight caseworker’s monopoly.</a:t>
            </a:r>
            <a:endParaRPr/>
          </a:p>
        </p:txBody>
      </p:sp>
      <p:pic>
        <p:nvPicPr>
          <p:cNvPr id="182" name="Google Shape;18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438" y="1924100"/>
            <a:ext cx="7653124" cy="32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Stage 1: Sense-making (goals &amp; power)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What decision are we trying to change?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Who actually decides?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800"/>
              <a:t>Are there multiple decision makers?</a:t>
            </a:r>
            <a:endParaRPr sz="18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800"/>
              <a:t>Where will pressure work?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What is the smallest viable win?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Name the meeting / office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Name the decision-maker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Timeframe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Minimum acceptable outcome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What data, research, or mapping would help us understand this better?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https://bit.ly/mappol</a:t>
            </a:r>
            <a:r>
              <a:rPr lang="en-GB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What don’t we know yet?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How could technology help with this?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Some Methodologies</a:t>
            </a:r>
            <a:endParaRPr/>
          </a:p>
        </p:txBody>
      </p:sp>
      <p:sp>
        <p:nvSpPr>
          <p:cNvPr id="194" name="Google Shape;194;p35"/>
          <p:cNvSpPr txBox="1"/>
          <p:nvPr>
            <p:ph idx="1" type="body"/>
          </p:nvPr>
        </p:nvSpPr>
        <p:spPr>
          <a:xfrm>
            <a:off x="311700" y="1152475"/>
            <a:ext cx="85206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Power Mapping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https://commonslibrary.org/power-mapping/</a:t>
            </a:r>
            <a:r>
              <a:rPr lang="en-GB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Theory of Change </a:t>
            </a:r>
            <a:r>
              <a:rPr lang="en-GB" u="sng">
                <a:solidFill>
                  <a:schemeClr val="hlink"/>
                </a:solidFill>
                <a:hlinkClick r:id="rId4"/>
              </a:rPr>
              <a:t>https://media.nesta.org.uk/documents/Theory_of_change_worksheet.pdf</a:t>
            </a:r>
            <a:r>
              <a:rPr lang="en-GB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Minimum Viable Win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SMART Goals </a:t>
            </a:r>
            <a:r>
              <a:rPr lang="en-GB" u="sng">
                <a:solidFill>
                  <a:schemeClr val="hlink"/>
                </a:solidFill>
                <a:hlinkClick r:id="rId5"/>
              </a:rPr>
              <a:t>https://en.wikipedia.org/wiki/SMART_criteria</a:t>
            </a:r>
            <a:r>
              <a:rPr lang="en-GB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u="sng">
                <a:solidFill>
                  <a:schemeClr val="hlink"/>
                </a:solidFill>
                <a:hlinkClick r:id="rId6"/>
              </a:rPr>
              <a:t>https://commonslibrary.org/campaign-strategy-start-here/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⏰</a:t>
            </a:r>
            <a:r>
              <a:rPr lang="en-GB"/>
              <a:t>Check In</a:t>
            </a:r>
            <a:endParaRPr/>
          </a:p>
        </p:txBody>
      </p:sp>
      <p:sp>
        <p:nvSpPr>
          <p:cNvPr id="200" name="Google Shape;200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“We want [decision-maker] to [specific action] by [time], even if the outcome is only [limited win].”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Stage 2: </a:t>
            </a:r>
            <a:r>
              <a:rPr lang="en-GB"/>
              <a:t>Tactics &amp; pressure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What will influence this decision-maker?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What pressure do they respond to?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What risks do they avoid? Electoral / reputational / internal / legal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Who else can apply pressure?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What tactics might work?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Who needs to apply them and at what scale?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What channels might you need?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How might technology: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enable new tactics?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strengthen existing ones?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increase the cost of ignoring the issue?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What resources do I have?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GB"/>
              <a:t>Methodologies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Decide on pressure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Power/ Influence mapping </a:t>
            </a:r>
            <a:r>
              <a:rPr lang="en-GB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https://rethinkeconomics.org/group-guidelines/power-mapping/</a:t>
            </a:r>
            <a:r>
              <a:rPr lang="en-GB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Pillars of Power </a:t>
            </a:r>
            <a:r>
              <a:rPr lang="en-GB" u="sng">
                <a:solidFill>
                  <a:schemeClr val="hlink"/>
                </a:solidFill>
                <a:hlinkClick r:id="rId4"/>
              </a:rPr>
              <a:t>https://commonslibrary.org/pillars-of-power/</a:t>
            </a:r>
            <a:r>
              <a:rPr lang="en-GB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Decide on Tactics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List of tactics </a:t>
            </a:r>
            <a:r>
              <a:rPr lang="en-GB" u="sng">
                <a:solidFill>
                  <a:schemeClr val="hlink"/>
                </a:solidFill>
                <a:hlinkClick r:id="rId5"/>
              </a:rPr>
              <a:t>https://commonslibrary.org/topic/tactics/</a:t>
            </a:r>
            <a:r>
              <a:rPr lang="en-GB"/>
              <a:t> , </a:t>
            </a:r>
            <a:r>
              <a:rPr lang="en-GB" u="sng">
                <a:solidFill>
                  <a:schemeClr val="hlink"/>
                </a:solidFill>
                <a:hlinkClick r:id="rId6"/>
              </a:rPr>
              <a:t>https://activisthandbook.org/tactics</a:t>
            </a:r>
            <a:r>
              <a:rPr lang="en-GB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Work out Resources/ Resource Mapping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Stakeholder Mapping </a:t>
            </a:r>
            <a:r>
              <a:rPr lang="en-GB" u="sng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https://activisthandbook.org/strategy/stakeholders</a:t>
            </a:r>
            <a:r>
              <a:rPr lang="en-GB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Team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Allies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Opponents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Physical resources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Technological resources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⏰</a:t>
            </a:r>
            <a:r>
              <a:rPr lang="en-GB"/>
              <a:t>Check In</a:t>
            </a:r>
            <a:endParaRPr/>
          </a:p>
        </p:txBody>
      </p:sp>
      <p:sp>
        <p:nvSpPr>
          <p:cNvPr id="218" name="Google Shape;218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Each group answers: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Who matters most to move the decision?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What pressure moves them?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What tactics will you use to move them?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What resources will you use?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Stage 3: Organising People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Who needs to act?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What are you asking them to do?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How do you sustain participation?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What limits people from taking action?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What are the blockers? 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What would increase capacity?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How do you sustain m</a:t>
            </a:r>
            <a:r>
              <a:rPr lang="en-GB"/>
              <a:t>otivation?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How does tech reduce friction in: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coordination?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motivation?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F</a:t>
            </a:r>
            <a:r>
              <a:rPr lang="en-GB"/>
              <a:t>ollow-up?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Reaching people?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What would break without tech?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What channels might you use to coordinate people?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Methodologies </a:t>
            </a:r>
            <a:endParaRPr/>
          </a:p>
        </p:txBody>
      </p:sp>
      <p:sp>
        <p:nvSpPr>
          <p:cNvPr id="230" name="Google Shape;230;p41"/>
          <p:cNvSpPr txBox="1"/>
          <p:nvPr>
            <p:ph idx="1" type="body"/>
          </p:nvPr>
        </p:nvSpPr>
        <p:spPr>
          <a:xfrm>
            <a:off x="311700" y="1152475"/>
            <a:ext cx="8520600" cy="37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Relational organising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https://commonslibrary.org/how-to-do-relational-organizing-video-tip-sheet-and-work-sheet/</a:t>
            </a:r>
            <a:r>
              <a:rPr lang="en-GB"/>
              <a:t>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One-to-one conversations </a:t>
            </a:r>
            <a:r>
              <a:rPr lang="en-GB" u="sng">
                <a:solidFill>
                  <a:schemeClr val="hlink"/>
                </a:solidFill>
                <a:hlinkClick r:id="rId4"/>
              </a:rPr>
              <a:t>https://commonslibrary.org/organizing-people-power-and-change-the-one-on-one-meeting/</a:t>
            </a:r>
            <a:r>
              <a:rPr lang="en-GB"/>
              <a:t>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Lobbying </a:t>
            </a:r>
            <a:r>
              <a:rPr lang="en-GB" u="sng">
                <a:solidFill>
                  <a:schemeClr val="hlink"/>
                </a:solidFill>
                <a:hlinkClick r:id="rId5"/>
              </a:rPr>
              <a:t>https://docs.google.com/document/d/1l0n2M0nNDo6_naA3ZCVJWBwHcue0ZfCm/edit?rtpof=true&amp;tab=t.0</a:t>
            </a:r>
            <a:r>
              <a:rPr lang="en-GB"/>
              <a:t>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Ladder of engagement </a:t>
            </a:r>
            <a:r>
              <a:rPr lang="en-GB" u="sng">
                <a:solidFill>
                  <a:schemeClr val="hlink"/>
                </a:solidFill>
                <a:hlinkClick r:id="rId6"/>
              </a:rPr>
              <a:t>https://actionnetwork.org/forms/download-the-ladder-of-engagement-worksheet?nowrapper=true&amp;referrer=&amp;source=direct_link</a:t>
            </a:r>
            <a:r>
              <a:rPr lang="en-GB"/>
              <a:t>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Coalition building </a:t>
            </a:r>
            <a:r>
              <a:rPr lang="en-GB" u="sng">
                <a:solidFill>
                  <a:schemeClr val="hlink"/>
                </a:solidFill>
                <a:hlinkClick r:id="rId7"/>
              </a:rPr>
              <a:t>https://www.local.gov.uk/publications/12-components-effective-coalitions</a:t>
            </a:r>
            <a:r>
              <a:rPr lang="en-GB"/>
              <a:t>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Mass mobilisation/ digital mobilisation </a:t>
            </a:r>
            <a:r>
              <a:rPr lang="en-GB" u="sng">
                <a:solidFill>
                  <a:schemeClr val="hlink"/>
                </a:solidFill>
                <a:hlinkClick r:id="rId8"/>
              </a:rPr>
              <a:t>https://forwardaction.uk/2025/01/digital-mobilisation-predictions-for-2025-movement-innovation-and-impact/</a:t>
            </a:r>
            <a:r>
              <a:rPr lang="en-GB"/>
              <a:t>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Distributed Organising </a:t>
            </a:r>
            <a:r>
              <a:rPr lang="en-GB" u="sng">
                <a:solidFill>
                  <a:schemeClr val="hlink"/>
                </a:solidFill>
                <a:hlinkClick r:id="rId9"/>
              </a:rPr>
              <a:t>https://commonslibrary.org/how-to-guide-distributed-organizing-2/</a:t>
            </a:r>
            <a:r>
              <a:rPr lang="en-GB"/>
              <a:t>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Community Building </a:t>
            </a:r>
            <a:r>
              <a:rPr lang="en-GB" u="sng">
                <a:solidFill>
                  <a:schemeClr val="hlink"/>
                </a:solidFill>
                <a:hlinkClick r:id="rId10"/>
              </a:rPr>
              <a:t>https://activisthandbook.org/organising/community-building</a:t>
            </a:r>
            <a:r>
              <a:rPr lang="en-GB"/>
              <a:t>/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Membership </a:t>
            </a:r>
            <a:r>
              <a:rPr lang="en-GB" u="sng">
                <a:solidFill>
                  <a:schemeClr val="hlink"/>
                </a:solidFill>
                <a:hlinkClick r:id="rId11"/>
              </a:rPr>
              <a:t>https://membershipguide.org/handbook/getting-started-with-membership/discovering-our-value-proposition</a:t>
            </a:r>
            <a:r>
              <a:rPr lang="en-GB"/>
              <a:t> , </a:t>
            </a:r>
            <a:r>
              <a:rPr lang="en-GB" u="sng">
                <a:solidFill>
                  <a:schemeClr val="hlink"/>
                </a:solidFill>
                <a:hlinkClick r:id="rId12"/>
              </a:rPr>
              <a:t>🌹Labour Membership Mobilisation Guide </a:t>
            </a:r>
            <a:r>
              <a:rPr lang="en-GB"/>
              <a:t> 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Movement building </a:t>
            </a:r>
            <a:r>
              <a:rPr lang="en-GB" u="sng">
                <a:solidFill>
                  <a:schemeClr val="hlink"/>
                </a:solidFill>
                <a:hlinkClick r:id="rId13"/>
              </a:rPr>
              <a:t>https://growingthegrassroots.civicpower.org.uk/chapters/lessons-on-organising-and-movement-building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⏰</a:t>
            </a:r>
            <a:r>
              <a:rPr lang="en-GB"/>
              <a:t>Check In</a:t>
            </a:r>
            <a:endParaRPr/>
          </a:p>
        </p:txBody>
      </p:sp>
      <p:sp>
        <p:nvSpPr>
          <p:cNvPr id="236" name="Google Shape;236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Complete your plans and present them back!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Reflection: Have you got any ideas for meta tech tools?</a:t>
            </a:r>
            <a:endParaRPr/>
          </a:p>
        </p:txBody>
      </p:sp>
      <p:sp>
        <p:nvSpPr>
          <p:cNvPr id="242" name="Google Shape;242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What would have made your jobs easier at each stage?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What could be reusable across campaigns?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